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7" r:id="rId3"/>
    <p:sldId id="258" r:id="rId4"/>
    <p:sldId id="259" r:id="rId5"/>
    <p:sldId id="262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26321-4169-423F-BF68-8BD2A38C5CB7}" type="datetimeFigureOut">
              <a:rPr lang="pt-BR" smtClean="0"/>
              <a:pPr/>
              <a:t>15/09/2014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852F5-7064-4CA4-8DCE-940620C9CB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png"/><Relationship Id="rId18" Type="http://schemas.openxmlformats.org/officeDocument/2006/relationships/image" Target="../media/image28.wmf"/><Relationship Id="rId3" Type="http://schemas.openxmlformats.org/officeDocument/2006/relationships/image" Target="../media/image13.wmf"/><Relationship Id="rId7" Type="http://schemas.openxmlformats.org/officeDocument/2006/relationships/image" Target="../media/image17.png"/><Relationship Id="rId12" Type="http://schemas.openxmlformats.org/officeDocument/2006/relationships/image" Target="../media/image22.wmf"/><Relationship Id="rId17" Type="http://schemas.openxmlformats.org/officeDocument/2006/relationships/image" Target="../media/image27.wmf"/><Relationship Id="rId2" Type="http://schemas.openxmlformats.org/officeDocument/2006/relationships/image" Target="../media/image12.png"/><Relationship Id="rId16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5" Type="http://schemas.openxmlformats.org/officeDocument/2006/relationships/image" Target="../media/image25.wmf"/><Relationship Id="rId10" Type="http://schemas.openxmlformats.org/officeDocument/2006/relationships/image" Target="../media/image20.wmf"/><Relationship Id="rId19" Type="http://schemas.openxmlformats.org/officeDocument/2006/relationships/image" Target="../media/image29.wmf"/><Relationship Id="rId4" Type="http://schemas.openxmlformats.org/officeDocument/2006/relationships/image" Target="../media/image14.wmf"/><Relationship Id="rId9" Type="http://schemas.openxmlformats.org/officeDocument/2006/relationships/image" Target="../media/image19.png"/><Relationship Id="rId1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png"/><Relationship Id="rId12" Type="http://schemas.openxmlformats.org/officeDocument/2006/relationships/image" Target="../media/image40.w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32.png"/><Relationship Id="rId9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png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wmf"/><Relationship Id="rId5" Type="http://schemas.openxmlformats.org/officeDocument/2006/relationships/image" Target="../media/image45.png"/><Relationship Id="rId10" Type="http://schemas.openxmlformats.org/officeDocument/2006/relationships/image" Target="../media/image50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wmf"/><Relationship Id="rId12" Type="http://schemas.openxmlformats.org/officeDocument/2006/relationships/image" Target="../media/image65.wmf"/><Relationship Id="rId17" Type="http://schemas.openxmlformats.org/officeDocument/2006/relationships/image" Target="../media/image70.wmf"/><Relationship Id="rId2" Type="http://schemas.openxmlformats.org/officeDocument/2006/relationships/image" Target="../media/image55.wmf"/><Relationship Id="rId16" Type="http://schemas.openxmlformats.org/officeDocument/2006/relationships/image" Target="../media/image6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wmf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Relationship Id="rId14" Type="http://schemas.openxmlformats.org/officeDocument/2006/relationships/image" Target="../media/image6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png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image" Target="../media/image74.png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91.wmf"/><Relationship Id="rId3" Type="http://schemas.openxmlformats.org/officeDocument/2006/relationships/image" Target="../media/image81.wmf"/><Relationship Id="rId7" Type="http://schemas.openxmlformats.org/officeDocument/2006/relationships/image" Target="../media/image85.png"/><Relationship Id="rId12" Type="http://schemas.openxmlformats.org/officeDocument/2006/relationships/image" Target="../media/image90.wmf"/><Relationship Id="rId2" Type="http://schemas.openxmlformats.org/officeDocument/2006/relationships/image" Target="../media/image80.wmf"/><Relationship Id="rId16" Type="http://schemas.openxmlformats.org/officeDocument/2006/relationships/image" Target="../media/image9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wmf"/><Relationship Id="rId11" Type="http://schemas.openxmlformats.org/officeDocument/2006/relationships/image" Target="../media/image89.wmf"/><Relationship Id="rId5" Type="http://schemas.openxmlformats.org/officeDocument/2006/relationships/image" Target="../media/image83.wmf"/><Relationship Id="rId15" Type="http://schemas.openxmlformats.org/officeDocument/2006/relationships/image" Target="../media/image93.png"/><Relationship Id="rId10" Type="http://schemas.openxmlformats.org/officeDocument/2006/relationships/image" Target="../media/image88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Relationship Id="rId14" Type="http://schemas.openxmlformats.org/officeDocument/2006/relationships/image" Target="../media/image9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10" Type="http://schemas.openxmlformats.org/officeDocument/2006/relationships/image" Target="../media/image103.wmf"/><Relationship Id="rId4" Type="http://schemas.openxmlformats.org/officeDocument/2006/relationships/image" Target="../media/image97.wmf"/><Relationship Id="rId9" Type="http://schemas.openxmlformats.org/officeDocument/2006/relationships/image" Target="../media/image10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wmf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wm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wmf"/><Relationship Id="rId11" Type="http://schemas.openxmlformats.org/officeDocument/2006/relationships/image" Target="../media/image129.png"/><Relationship Id="rId5" Type="http://schemas.openxmlformats.org/officeDocument/2006/relationships/image" Target="../media/image123.wmf"/><Relationship Id="rId10" Type="http://schemas.openxmlformats.org/officeDocument/2006/relationships/image" Target="../media/image128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Relationship Id="rId14" Type="http://schemas.openxmlformats.org/officeDocument/2006/relationships/image" Target="../media/image1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ANÁLISE DA RESPOSTA TRANSITORIA PARA SISTEMAS DE SEGUNDA ORDEM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85984" y="6072206"/>
            <a:ext cx="4843474" cy="495288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Prof. Dr. </a:t>
            </a:r>
            <a:r>
              <a:rPr lang="en-US" dirty="0" err="1" smtClean="0"/>
              <a:t>Renato</a:t>
            </a:r>
            <a:r>
              <a:rPr lang="en-US" dirty="0" smtClean="0"/>
              <a:t> de </a:t>
            </a:r>
            <a:r>
              <a:rPr lang="en-US" dirty="0" err="1" smtClean="0"/>
              <a:t>Aguiar</a:t>
            </a:r>
            <a:r>
              <a:rPr lang="en-US" dirty="0" smtClean="0"/>
              <a:t> Teixeira Mendes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60350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Definições das Especificações da Resposta Transitória</a:t>
            </a:r>
            <a:r>
              <a:rPr lang="pt-BR" sz="3800" baseline="30000" smtClean="0"/>
              <a:t>(1)</a:t>
            </a:r>
          </a:p>
        </p:txBody>
      </p:sp>
      <p:sp>
        <p:nvSpPr>
          <p:cNvPr id="358404" name="Rectangle 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pt-BR" sz="2000" smtClean="0"/>
              <a:t>Em muitos casos práticos, as características de desempenho de um sistema de controle são especificadas em termos de grandezas no domínio do tempo.</a:t>
            </a:r>
          </a:p>
          <a:p>
            <a:pPr>
              <a:lnSpc>
                <a:spcPct val="80000"/>
              </a:lnSpc>
              <a:defRPr/>
            </a:pPr>
            <a:r>
              <a:rPr lang="pt-BR" sz="2000" smtClean="0"/>
              <a:t>Com freqüência, estas características são especificadas em termos da resposta transitória ao degrau unitário.</a:t>
            </a:r>
          </a:p>
          <a:p>
            <a:pPr>
              <a:lnSpc>
                <a:spcPct val="80000"/>
              </a:lnSpc>
              <a:defRPr/>
            </a:pPr>
            <a:r>
              <a:rPr lang="pt-BR" sz="2000" smtClean="0"/>
              <a:t>Características da resposta transitória:</a:t>
            </a:r>
          </a:p>
          <a:p>
            <a:pPr lvl="1">
              <a:lnSpc>
                <a:spcPct val="80000"/>
              </a:lnSpc>
              <a:defRPr/>
            </a:pPr>
            <a:r>
              <a:rPr lang="pt-BR" sz="1800" smtClean="0"/>
              <a:t>Tempo de atraso, t</a:t>
            </a:r>
            <a:r>
              <a:rPr lang="pt-BR" sz="1800" baseline="-25000" smtClean="0"/>
              <a:t>d</a:t>
            </a:r>
            <a:endParaRPr lang="pt-BR" sz="1800" smtClean="0"/>
          </a:p>
          <a:p>
            <a:pPr lvl="1">
              <a:lnSpc>
                <a:spcPct val="80000"/>
              </a:lnSpc>
              <a:defRPr/>
            </a:pPr>
            <a:r>
              <a:rPr lang="pt-BR" sz="1800" smtClean="0"/>
              <a:t>Tempo de subida, t</a:t>
            </a:r>
            <a:r>
              <a:rPr lang="pt-BR" sz="1800" baseline="-25000" smtClean="0"/>
              <a:t>r</a:t>
            </a:r>
          </a:p>
          <a:p>
            <a:pPr lvl="1">
              <a:lnSpc>
                <a:spcPct val="80000"/>
              </a:lnSpc>
              <a:defRPr/>
            </a:pPr>
            <a:r>
              <a:rPr lang="pt-BR" sz="1800" smtClean="0"/>
              <a:t>Tempo de pico, t</a:t>
            </a:r>
            <a:r>
              <a:rPr lang="pt-BR" sz="1800" baseline="-25000" smtClean="0"/>
              <a:t>p</a:t>
            </a:r>
            <a:endParaRPr lang="pt-BR" sz="1800" smtClean="0"/>
          </a:p>
          <a:p>
            <a:pPr lvl="1">
              <a:lnSpc>
                <a:spcPct val="80000"/>
              </a:lnSpc>
              <a:defRPr/>
            </a:pPr>
            <a:r>
              <a:rPr lang="pt-BR" sz="1800" smtClean="0"/>
              <a:t>Máximo sobre-sinal (ou apenas sobre-sinal), M</a:t>
            </a:r>
            <a:r>
              <a:rPr lang="pt-BR" sz="1800" baseline="-25000" smtClean="0"/>
              <a:t>p</a:t>
            </a:r>
            <a:endParaRPr lang="pt-BR" sz="1800" smtClean="0"/>
          </a:p>
          <a:p>
            <a:pPr lvl="1">
              <a:lnSpc>
                <a:spcPct val="80000"/>
              </a:lnSpc>
              <a:defRPr/>
            </a:pPr>
            <a:r>
              <a:rPr lang="pt-BR" sz="1800" smtClean="0"/>
              <a:t>Tempo de acomodação, t</a:t>
            </a:r>
            <a:r>
              <a:rPr lang="pt-BR" sz="1800" baseline="-25000" smtClean="0"/>
              <a:t>s</a:t>
            </a:r>
            <a:endParaRPr lang="pt-BR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60350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Definições das Especificações da Resposta Transitória</a:t>
            </a:r>
            <a:r>
              <a:rPr lang="pt-BR" sz="3800" baseline="30000" smtClean="0"/>
              <a:t>(2)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1519238"/>
            <a:ext cx="7705725" cy="5032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Comentários Sobre a Resposta Transitória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00200"/>
            <a:ext cx="7924800" cy="478155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pt-BR" sz="2000" dirty="0" smtClean="0"/>
              <a:t>Na maioria dos casos, é desejável que a resposta transitória seja rápida e amortecida. O coeficiente de amortecimento deve estar entre 0,4 e 0,8.</a:t>
            </a:r>
          </a:p>
          <a:p>
            <a:pPr>
              <a:lnSpc>
                <a:spcPct val="80000"/>
              </a:lnSpc>
              <a:defRPr/>
            </a:pPr>
            <a:r>
              <a:rPr lang="pt-BR" sz="2000" dirty="0" smtClean="0"/>
              <a:t>Valores Pequenos (         ) resultam em excessivo sobre sinal.</a:t>
            </a:r>
          </a:p>
          <a:p>
            <a:pPr>
              <a:lnSpc>
                <a:spcPct val="80000"/>
              </a:lnSpc>
              <a:defRPr/>
            </a:pPr>
            <a:r>
              <a:rPr lang="pt-BR" sz="2000" dirty="0" smtClean="0"/>
              <a:t>Valores Grandes (          ) resultam em sistemas que respondem muito lentamente.</a:t>
            </a:r>
          </a:p>
          <a:p>
            <a:pPr>
              <a:lnSpc>
                <a:spcPct val="80000"/>
              </a:lnSpc>
              <a:defRPr/>
            </a:pPr>
            <a:r>
              <a:rPr lang="pt-BR" sz="2000" dirty="0" smtClean="0"/>
              <a:t>O máximo sobre sinal e o tempo de subida são conflitantes entre si.</a:t>
            </a:r>
          </a:p>
          <a:p>
            <a:pPr>
              <a:lnSpc>
                <a:spcPct val="80000"/>
              </a:lnSpc>
              <a:defRPr/>
            </a:pPr>
            <a:r>
              <a:rPr lang="pt-BR" sz="2000" dirty="0" smtClean="0"/>
              <a:t>Nos cálculos do tempo de subida, tempo de pico, sobre sinal e tempo de acomodação, haverá a suposição de que o sistema é </a:t>
            </a:r>
            <a:r>
              <a:rPr lang="pt-BR" sz="2000" dirty="0" err="1" smtClean="0"/>
              <a:t>subamortecido</a:t>
            </a:r>
            <a:r>
              <a:rPr lang="pt-BR" sz="2000" dirty="0" smtClean="0"/>
              <a:t>.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2428868"/>
            <a:ext cx="850900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2714620"/>
            <a:ext cx="850900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73050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Cálculo do Tempo de Subida - t</a:t>
            </a:r>
            <a:r>
              <a:rPr lang="pt-BR" sz="3800" baseline="-25000" smtClean="0"/>
              <a:t>r</a:t>
            </a:r>
            <a:r>
              <a:rPr lang="pt-BR" sz="3800" baseline="30000" smtClean="0"/>
              <a:t>(3)</a:t>
            </a:r>
            <a:br>
              <a:rPr lang="pt-BR" sz="3800" baseline="30000" smtClean="0"/>
            </a:br>
            <a:r>
              <a:rPr lang="pt-BR" sz="3800" smtClean="0">
                <a:solidFill>
                  <a:srgbClr val="990000"/>
                </a:solidFill>
              </a:rPr>
              <a:t>Nise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defRPr/>
            </a:pPr>
            <a:r>
              <a:rPr lang="pt-BR" sz="2400" smtClean="0"/>
              <a:t>É o tempo necessário para o sinal partindo de 0,1 de seu valor final atingir 0,9 de seu valor final.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613" y="2492375"/>
            <a:ext cx="6192837" cy="4167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28600"/>
            <a:ext cx="8337550" cy="914400"/>
          </a:xfrm>
        </p:spPr>
        <p:txBody>
          <a:bodyPr>
            <a:normAutofit fontScale="90000"/>
          </a:bodyPr>
          <a:lstStyle/>
          <a:p>
            <a:r>
              <a:rPr lang="pt-BR" sz="3400" smtClean="0"/>
              <a:t>Relacionamento entre os Parâmetros de Especificação da Resposta Transitória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989138"/>
            <a:ext cx="4335462" cy="3511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4859338" y="1700213"/>
            <a:ext cx="3960812" cy="119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/>
              <a:t>Pelo teorema de pitágoras verifica-se que a distância radial da origem até o pólo é igual à freqüência natural (</a:t>
            </a:r>
            <a:r>
              <a:rPr lang="el-GR"/>
              <a:t>ω</a:t>
            </a:r>
            <a:r>
              <a:rPr lang="pt-BR" baseline="-25000"/>
              <a:t>n</a:t>
            </a:r>
            <a:r>
              <a:rPr lang="pt-BR"/>
              <a:t>) e cos </a:t>
            </a:r>
            <a:r>
              <a:rPr lang="pt-BR">
                <a:sym typeface="Symbol" pitchFamily="18" charset="2"/>
              </a:rPr>
              <a:t> = .</a:t>
            </a:r>
          </a:p>
        </p:txBody>
      </p:sp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35600" y="3789363"/>
            <a:ext cx="2449513" cy="15763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61938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2600" b="1" smtClean="0"/>
              <a:t>Resposta ao Degrau de Sistemas de Segunda Ordem Subamortecidos quando os pólos se movem </a:t>
            </a:r>
            <a:r>
              <a:rPr lang="pt-BR" sz="2600" b="1" smtClean="0">
                <a:solidFill>
                  <a:srgbClr val="990000"/>
                </a:solidFill>
              </a:rPr>
              <a:t>com parte real</a:t>
            </a:r>
            <a:r>
              <a:rPr lang="pt-BR" sz="2600" b="1" smtClean="0"/>
              <a:t> constante</a:t>
            </a:r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1479550"/>
            <a:ext cx="7656513" cy="3000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0858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4552950"/>
            <a:ext cx="8280400" cy="2160588"/>
          </a:xfrm>
        </p:spPr>
        <p:txBody>
          <a:bodyPr/>
          <a:lstStyle/>
          <a:p>
            <a:pPr>
              <a:defRPr/>
            </a:pPr>
            <a:r>
              <a:rPr lang="pt-BR" sz="2000" smtClean="0"/>
              <a:t>Quando os pólos se movem na direção vertical, a freqüência aumenta, porém a envoltória permanece a mesma</a:t>
            </a:r>
          </a:p>
          <a:p>
            <a:pPr>
              <a:defRPr/>
            </a:pPr>
            <a:r>
              <a:rPr lang="pt-BR" sz="2000" smtClean="0"/>
              <a:t>O tempo de assentamento é praticamente o mesmo para todas os sinais.</a:t>
            </a:r>
          </a:p>
          <a:p>
            <a:pPr>
              <a:defRPr/>
            </a:pPr>
            <a:r>
              <a:rPr lang="pt-BR" sz="2000" smtClean="0"/>
              <a:t>Quando o sobre valor aumenta, o tempo de subida diminui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61938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2600" b="1" smtClean="0"/>
              <a:t>Resposta ao Degrau de Sistemas de Segunda Ordem Subamortecidos quando os pólos se movem </a:t>
            </a:r>
            <a:r>
              <a:rPr lang="pt-BR" sz="2600" b="1" smtClean="0">
                <a:solidFill>
                  <a:srgbClr val="990000"/>
                </a:solidFill>
              </a:rPr>
              <a:t>com parte imaginária</a:t>
            </a:r>
            <a:r>
              <a:rPr lang="pt-BR" sz="2600" b="1" smtClean="0"/>
              <a:t> constante</a:t>
            </a:r>
          </a:p>
        </p:txBody>
      </p:sp>
      <p:pic>
        <p:nvPicPr>
          <p:cNvPr id="430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1484313"/>
            <a:ext cx="7615238" cy="25796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0960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4149725"/>
            <a:ext cx="8424863" cy="2519363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pt-BR" sz="2000" smtClean="0"/>
              <a:t>Nesse caso, a freqüência é constante ao longo de variação da faixa real.</a:t>
            </a:r>
          </a:p>
          <a:p>
            <a:pPr>
              <a:lnSpc>
                <a:spcPct val="80000"/>
              </a:lnSpc>
              <a:defRPr/>
            </a:pPr>
            <a:r>
              <a:rPr lang="pt-BR" sz="2000" smtClean="0"/>
              <a:t>Quando os pólos são movidos da esquerda para a direita, a resposta de amortece rapidamente, enquanto a freqüência permanece a mesma.</a:t>
            </a:r>
          </a:p>
          <a:p>
            <a:pPr>
              <a:lnSpc>
                <a:spcPct val="80000"/>
              </a:lnSpc>
              <a:defRPr/>
            </a:pPr>
            <a:r>
              <a:rPr lang="pt-BR" sz="2000" smtClean="0"/>
              <a:t>O tempo de pico permanece o mesmo, visto que a parte imaginária permanece inalterada.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50825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2600" b="1" smtClean="0"/>
              <a:t>Resposta ao Degrau de Sistemas de Segunda Ordem Subamortecidos quando os pólos se movem </a:t>
            </a:r>
            <a:r>
              <a:rPr lang="pt-BR" sz="2600" b="1" smtClean="0">
                <a:solidFill>
                  <a:srgbClr val="990000"/>
                </a:solidFill>
              </a:rPr>
              <a:t>com fração de amortecimento</a:t>
            </a:r>
            <a:r>
              <a:rPr lang="pt-BR" sz="2600" b="1" smtClean="0"/>
              <a:t> constante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4221163"/>
            <a:ext cx="8569325" cy="2303462"/>
          </a:xfrm>
        </p:spPr>
        <p:txBody>
          <a:bodyPr/>
          <a:lstStyle/>
          <a:p>
            <a:pPr>
              <a:defRPr/>
            </a:pPr>
            <a:r>
              <a:rPr lang="pt-BR" sz="2400" smtClean="0"/>
              <a:t>Neste caso, o sobre valor percentual permanece o mesmo.</a:t>
            </a:r>
          </a:p>
          <a:p>
            <a:pPr>
              <a:defRPr/>
            </a:pPr>
            <a:r>
              <a:rPr lang="pt-BR" sz="2400" smtClean="0"/>
              <a:t>Todas as respostas se parecem, exceto no que diz respeito as suas velocidades. Quando mais afastados da origem, mais rápida será a resposta.</a:t>
            </a: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1508125"/>
            <a:ext cx="7656513" cy="26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4.6. </a:t>
            </a:r>
            <a:r>
              <a:rPr lang="pt-BR" baseline="30000" smtClean="0">
                <a:solidFill>
                  <a:srgbClr val="990000"/>
                </a:solidFill>
              </a:rPr>
              <a:t>(Norman Nise)</a:t>
            </a:r>
          </a:p>
        </p:txBody>
      </p:sp>
      <p:pic>
        <p:nvPicPr>
          <p:cNvPr id="4505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88" y="1838325"/>
            <a:ext cx="9145588" cy="432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4.7. </a:t>
            </a:r>
            <a:r>
              <a:rPr lang="pt-BR" baseline="30000" smtClean="0">
                <a:solidFill>
                  <a:srgbClr val="990000"/>
                </a:solidFill>
              </a:rPr>
              <a:t>(Norman Nise)</a:t>
            </a:r>
          </a:p>
        </p:txBody>
      </p:sp>
      <p:sp>
        <p:nvSpPr>
          <p:cNvPr id="41267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12875"/>
            <a:ext cx="8497887" cy="44196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pt-BR" sz="2400" b="1" smtClean="0"/>
              <a:t>Resposta Transiente Através do Projeto de Componentes</a:t>
            </a:r>
            <a:r>
              <a:rPr lang="pt-BR" sz="2400" smtClean="0"/>
              <a:t>.</a:t>
            </a:r>
          </a:p>
          <a:p>
            <a:pPr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990000"/>
                </a:solidFill>
              </a:rPr>
              <a:t>Problema:</a:t>
            </a:r>
            <a:r>
              <a:rPr lang="pt-BR" sz="2400" smtClean="0"/>
              <a:t> Dado o sistema mostrado na figura abaixo, determine os valores de J e D de modo que o sistema apresente sobrevalor percentual de 20% e um tempo de assentamento de 2 segundos para uma entrada em degrau de torque T(t).</a:t>
            </a:r>
          </a:p>
        </p:txBody>
      </p:sp>
      <p:pic>
        <p:nvPicPr>
          <p:cNvPr id="4608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4581525"/>
            <a:ext cx="6985000" cy="1677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4.7. </a:t>
            </a:r>
            <a:r>
              <a:rPr lang="pt-BR" baseline="30000" smtClean="0">
                <a:solidFill>
                  <a:srgbClr val="990000"/>
                </a:solidFill>
              </a:rPr>
              <a:t>(Norman Nise)</a:t>
            </a:r>
          </a:p>
        </p:txBody>
      </p:sp>
      <p:pic>
        <p:nvPicPr>
          <p:cNvPr id="4710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557338"/>
            <a:ext cx="7083425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710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1989138"/>
            <a:ext cx="2039937" cy="911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39750" y="2725738"/>
            <a:ext cx="6535738" cy="727075"/>
            <a:chOff x="340" y="1717"/>
            <a:chExt cx="4117" cy="458"/>
          </a:xfrm>
        </p:grpSpPr>
        <p:pic>
          <p:nvPicPr>
            <p:cNvPr id="47129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0" y="1888"/>
              <a:ext cx="2292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30" name="Picture 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692" y="1717"/>
              <a:ext cx="717" cy="4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31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60" y="1888"/>
              <a:ext cx="123" cy="12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32" name="Picture 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766" y="1797"/>
              <a:ext cx="691" cy="3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39750" y="3451225"/>
            <a:ext cx="7216775" cy="603250"/>
            <a:chOff x="340" y="2174"/>
            <a:chExt cx="4546" cy="380"/>
          </a:xfrm>
        </p:grpSpPr>
        <p:pic>
          <p:nvPicPr>
            <p:cNvPr id="47126" name="Picture 1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40" y="2251"/>
              <a:ext cx="2551" cy="1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27" name="Picture 1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974" y="2174"/>
              <a:ext cx="898" cy="38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28" name="Picture 12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885" y="2230"/>
              <a:ext cx="1001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39750" y="3971925"/>
            <a:ext cx="2303463" cy="573088"/>
            <a:chOff x="340" y="2502"/>
            <a:chExt cx="1451" cy="361"/>
          </a:xfrm>
        </p:grpSpPr>
        <p:pic>
          <p:nvPicPr>
            <p:cNvPr id="47124" name="Picture 13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40" y="2568"/>
              <a:ext cx="484" cy="20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25" name="Picture 14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90" y="2502"/>
              <a:ext cx="1001" cy="36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413717" name="Picture 2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555875" y="5300663"/>
            <a:ext cx="4130675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13718" name="Picture 2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781800" y="5068888"/>
            <a:ext cx="1998663" cy="6651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468313" y="3284538"/>
            <a:ext cx="4824412" cy="2476500"/>
            <a:chOff x="295" y="2069"/>
            <a:chExt cx="3039" cy="1560"/>
          </a:xfrm>
        </p:grpSpPr>
        <p:pic>
          <p:nvPicPr>
            <p:cNvPr id="47121" name="Picture 20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295" y="3113"/>
              <a:ext cx="1207" cy="51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47122" name="Line 18"/>
            <p:cNvSpPr>
              <a:spLocks noChangeShapeType="1"/>
            </p:cNvSpPr>
            <p:nvPr/>
          </p:nvSpPr>
          <p:spPr bwMode="auto">
            <a:xfrm flipH="1">
              <a:off x="612" y="2069"/>
              <a:ext cx="2404" cy="108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 flipH="1">
              <a:off x="884" y="2523"/>
              <a:ext cx="2450" cy="6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413720" name="Picture 24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092950" y="5084763"/>
            <a:ext cx="1219200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13721" name="Picture 25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11188" y="6092825"/>
            <a:ext cx="1547812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059113" y="6021388"/>
            <a:ext cx="3695700" cy="368300"/>
            <a:chOff x="1927" y="3793"/>
            <a:chExt cx="2328" cy="232"/>
          </a:xfrm>
        </p:grpSpPr>
        <p:pic>
          <p:nvPicPr>
            <p:cNvPr id="47119" name="Picture 26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1927" y="3793"/>
              <a:ext cx="588" cy="2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7120" name="Picture 27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2479" y="3814"/>
              <a:ext cx="1776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sp>
        <p:nvSpPr>
          <p:cNvPr id="413725" name="AutoShape 29"/>
          <p:cNvSpPr>
            <a:spLocks noChangeArrowheads="1"/>
          </p:cNvSpPr>
          <p:nvPr/>
        </p:nvSpPr>
        <p:spPr bwMode="auto">
          <a:xfrm>
            <a:off x="2339975" y="6021388"/>
            <a:ext cx="503238" cy="360362"/>
          </a:xfrm>
          <a:prstGeom prst="rightArrow">
            <a:avLst>
              <a:gd name="adj1" fmla="val 38324"/>
              <a:gd name="adj2" fmla="val 43614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5.1.</a:t>
            </a:r>
            <a:r>
              <a:rPr lang="pt-BR" baseline="30000" smtClean="0"/>
              <a:t>(1)</a:t>
            </a:r>
          </a:p>
        </p:txBody>
      </p:sp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" y="1557338"/>
            <a:ext cx="3843338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00525" y="1589088"/>
            <a:ext cx="4910138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7513" y="1978025"/>
            <a:ext cx="847725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4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4975" y="2276475"/>
            <a:ext cx="2449513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5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4325" y="2320925"/>
            <a:ext cx="4049713" cy="204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6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411413" y="2566988"/>
            <a:ext cx="4008437" cy="1914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7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00113" y="4510088"/>
            <a:ext cx="7410450" cy="3889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8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27088" y="5086350"/>
            <a:ext cx="3967162" cy="379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39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787900" y="4975225"/>
            <a:ext cx="2449513" cy="614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40" name="Picture 13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27088" y="5876925"/>
            <a:ext cx="1998662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141" name="Picture 14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700338" y="5799138"/>
            <a:ext cx="3270250" cy="593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5.1.</a:t>
            </a:r>
            <a:r>
              <a:rPr lang="pt-BR" baseline="30000" smtClean="0"/>
              <a:t>(2)</a:t>
            </a:r>
          </a:p>
        </p:txBody>
      </p:sp>
      <p:pic>
        <p:nvPicPr>
          <p:cNvPr id="4915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484313"/>
            <a:ext cx="6804025" cy="53736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317500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Servossistema com Realimentação de Velocidade </a:t>
            </a:r>
            <a:r>
              <a:rPr lang="pt-BR" sz="3800" baseline="30000" smtClean="0"/>
              <a:t>(1)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57200" y="1539875"/>
            <a:ext cx="8467725" cy="982663"/>
            <a:chOff x="288" y="970"/>
            <a:chExt cx="5334" cy="619"/>
          </a:xfrm>
        </p:grpSpPr>
        <p:pic>
          <p:nvPicPr>
            <p:cNvPr id="50188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5" y="981"/>
              <a:ext cx="3144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0189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07" y="970"/>
              <a:ext cx="2215" cy="2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0190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88" y="1207"/>
              <a:ext cx="4229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0191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513" y="1218"/>
              <a:ext cx="768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0192" name="Picture 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95" y="1434"/>
              <a:ext cx="4849" cy="1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50180" name="Picture 1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7525" y="3068638"/>
            <a:ext cx="8231188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181" name="Picture 1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5300" y="3429000"/>
            <a:ext cx="2613025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182" name="Picture 1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098800" y="3451225"/>
            <a:ext cx="1711325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183" name="Picture 1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148263" y="3406775"/>
            <a:ext cx="3597275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184" name="Picture 1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39750" y="3789363"/>
            <a:ext cx="4951413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72753" name="Picture 17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79388" y="4365625"/>
            <a:ext cx="4895850" cy="191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72754" name="Picture 1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042988" y="4724400"/>
            <a:ext cx="3960812" cy="1384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187" name="Picture 19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364163" y="4941888"/>
            <a:ext cx="3638550" cy="819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Servossistema com Realimentação de Velocidade </a:t>
            </a:r>
            <a:r>
              <a:rPr lang="pt-BR" sz="3800" baseline="30000" smtClean="0"/>
              <a:t>(2)</a:t>
            </a:r>
          </a:p>
        </p:txBody>
      </p:sp>
      <p:pic>
        <p:nvPicPr>
          <p:cNvPr id="5120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916113"/>
            <a:ext cx="2532062" cy="717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0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088" y="1517650"/>
            <a:ext cx="3105150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05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4663" y="1916113"/>
            <a:ext cx="3679825" cy="777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68313" y="2708275"/>
            <a:ext cx="8039100" cy="1057275"/>
            <a:chOff x="295" y="2069"/>
            <a:chExt cx="5064" cy="666"/>
          </a:xfrm>
        </p:grpSpPr>
        <p:pic>
          <p:nvPicPr>
            <p:cNvPr id="51217" name="Picture 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5" y="2069"/>
              <a:ext cx="4074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1218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377" y="2083"/>
              <a:ext cx="768" cy="20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1219" name="Picture 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95" y="2327"/>
              <a:ext cx="4048" cy="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1220" name="Picture 1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332" y="2296"/>
              <a:ext cx="1027" cy="4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47675" y="3860800"/>
            <a:ext cx="8516938" cy="715963"/>
            <a:chOff x="282" y="2991"/>
            <a:chExt cx="5365" cy="451"/>
          </a:xfrm>
        </p:grpSpPr>
        <p:pic>
          <p:nvPicPr>
            <p:cNvPr id="51215" name="Picture 13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82" y="2991"/>
              <a:ext cx="5365" cy="2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1216" name="Picture 14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94" y="3203"/>
              <a:ext cx="949" cy="2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51208" name="Picture 1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39738" y="4786313"/>
            <a:ext cx="973137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09" name="Picture 17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443038" y="4797425"/>
            <a:ext cx="7534275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10" name="Picture 1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68313" y="5157788"/>
            <a:ext cx="3884612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11" name="Picture 20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397375" y="5168900"/>
            <a:ext cx="454025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12" name="Picture 2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17513" y="5494338"/>
            <a:ext cx="679450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13" name="Picture 2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175500" y="5527675"/>
            <a:ext cx="933450" cy="225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214" name="Picture 23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468313" y="5805488"/>
            <a:ext cx="7288212" cy="255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5.2. </a:t>
            </a:r>
            <a:r>
              <a:rPr lang="pt-BR" baseline="30000" smtClean="0"/>
              <a:t>(1)</a:t>
            </a:r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557338"/>
            <a:ext cx="2286000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6213" y="1557338"/>
            <a:ext cx="6140450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2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1916113"/>
            <a:ext cx="7902575" cy="255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59788" y="1916113"/>
            <a:ext cx="358775" cy="255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8313" y="2205038"/>
            <a:ext cx="2859087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2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76600" y="2205038"/>
            <a:ext cx="5607050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3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8313" y="2536825"/>
            <a:ext cx="5443537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4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900738" y="2509838"/>
            <a:ext cx="1670050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235" name="Picture 1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403350" y="3573463"/>
            <a:ext cx="6221413" cy="2273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5.2. </a:t>
            </a:r>
            <a:r>
              <a:rPr lang="pt-BR" baseline="30000" smtClean="0"/>
              <a:t>(2)</a:t>
            </a:r>
          </a:p>
        </p:txBody>
      </p:sp>
      <p:pic>
        <p:nvPicPr>
          <p:cNvPr id="5325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557338"/>
            <a:ext cx="3516313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916113"/>
            <a:ext cx="4498975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3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1263" y="1949450"/>
            <a:ext cx="64611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4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9750" y="2276475"/>
            <a:ext cx="1711325" cy="4397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5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9750" y="2708275"/>
            <a:ext cx="3024188" cy="398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6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29013" y="2568575"/>
            <a:ext cx="1793875" cy="573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7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00675" y="2713038"/>
            <a:ext cx="317500" cy="3063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8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772150" y="2552700"/>
            <a:ext cx="1752600" cy="4714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59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11188" y="3213100"/>
            <a:ext cx="1547812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0" name="Picture 13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112963" y="3101975"/>
            <a:ext cx="1384300" cy="450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1" name="Picture 14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39750" y="4508500"/>
            <a:ext cx="4335463" cy="40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2" name="Picture 1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881563" y="4559300"/>
            <a:ext cx="2695575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3" name="Picture 1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68313" y="4941888"/>
            <a:ext cx="2613025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4" name="Picture 17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3036888" y="4875213"/>
            <a:ext cx="563562" cy="358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265" name="Picture 18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68313" y="5445125"/>
            <a:ext cx="4213225" cy="736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mtClean="0"/>
              <a:t>Exemplo 5.2. </a:t>
            </a:r>
            <a:r>
              <a:rPr lang="pt-BR" baseline="30000" smtClean="0"/>
              <a:t>(3)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557338"/>
            <a:ext cx="1916113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7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989138"/>
            <a:ext cx="1998663" cy="4302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62213" y="1989138"/>
            <a:ext cx="2327275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78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92663" y="1882775"/>
            <a:ext cx="1219200" cy="614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79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59338" y="2636838"/>
            <a:ext cx="522287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80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59338" y="3068638"/>
            <a:ext cx="3024187" cy="531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81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6113" y="3449638"/>
            <a:ext cx="1138237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82" name="Picture 1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809750" y="3400425"/>
            <a:ext cx="1177925" cy="388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283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16013" y="4646613"/>
            <a:ext cx="5811837" cy="22113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4284" name="Line 13"/>
          <p:cNvSpPr>
            <a:spLocks noChangeShapeType="1"/>
          </p:cNvSpPr>
          <p:nvPr/>
        </p:nvSpPr>
        <p:spPr bwMode="auto">
          <a:xfrm>
            <a:off x="539750" y="4221163"/>
            <a:ext cx="8208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250825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Resposta ao Impulso dos Sistemas de Segunda Ordem </a:t>
            </a:r>
            <a:r>
              <a:rPr lang="pt-BR" sz="3800" baseline="30000" smtClean="0"/>
              <a:t>(1)</a:t>
            </a:r>
          </a:p>
        </p:txBody>
      </p:sp>
      <p:pic>
        <p:nvPicPr>
          <p:cNvPr id="5529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557338"/>
            <a:ext cx="445928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0138" y="1584325"/>
            <a:ext cx="2900362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1916113"/>
            <a:ext cx="4746625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2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8313" y="2852738"/>
            <a:ext cx="38433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3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4663" y="2852738"/>
            <a:ext cx="4540250" cy="26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4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68313" y="3213100"/>
            <a:ext cx="728662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5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25550" y="3240088"/>
            <a:ext cx="1014413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6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555875" y="4652963"/>
            <a:ext cx="3967163" cy="1822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307" name="Picture 1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843213" y="3716338"/>
            <a:ext cx="2900362" cy="727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Resposta ao Impulso dos Sistemas de Segunda Ordem </a:t>
            </a:r>
            <a:r>
              <a:rPr lang="pt-BR" sz="3800" baseline="30000" smtClean="0"/>
              <a:t>(2)</a:t>
            </a:r>
          </a:p>
        </p:txBody>
      </p:sp>
      <p:pic>
        <p:nvPicPr>
          <p:cNvPr id="5632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850" y="1546225"/>
            <a:ext cx="8513763" cy="32496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Resposta ao Impulso dos Sistemas de Segunda Ordem </a:t>
            </a:r>
            <a:r>
              <a:rPr lang="pt-BR" sz="3800" baseline="30000" smtClean="0"/>
              <a:t>(3)</a:t>
            </a:r>
          </a:p>
        </p:txBody>
      </p:sp>
      <p:pic>
        <p:nvPicPr>
          <p:cNvPr id="5734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1484313"/>
            <a:ext cx="6192837" cy="5143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Resposta ao Impulso dos Sistemas de Segunda Ordem </a:t>
            </a:r>
            <a:r>
              <a:rPr lang="pt-BR" sz="3800" baseline="30000" smtClean="0"/>
              <a:t>(4)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557338"/>
            <a:ext cx="7329488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837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1844675"/>
            <a:ext cx="2859088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837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50" y="2205038"/>
            <a:ext cx="4459288" cy="1116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837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71550" y="4076700"/>
            <a:ext cx="2695575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8375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27088" y="4581525"/>
            <a:ext cx="7246937" cy="736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pt-BR" sz="3800" smtClean="0"/>
              <a:t>Resposta ao Impulso dos Sistemas de Segunda Ordem </a:t>
            </a:r>
            <a:r>
              <a:rPr lang="pt-BR" sz="3800" baseline="30000" smtClean="0"/>
              <a:t>(5)</a:t>
            </a:r>
          </a:p>
        </p:txBody>
      </p:sp>
      <p:pic>
        <p:nvPicPr>
          <p:cNvPr id="5939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8888" y="1490663"/>
            <a:ext cx="6192837" cy="2935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39750" y="4487863"/>
            <a:ext cx="7918450" cy="957262"/>
            <a:chOff x="340" y="2969"/>
            <a:chExt cx="4988" cy="603"/>
          </a:xfrm>
        </p:grpSpPr>
        <p:pic>
          <p:nvPicPr>
            <p:cNvPr id="59405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0" y="2976"/>
              <a:ext cx="2835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6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191" y="2969"/>
              <a:ext cx="2137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7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40" y="3175"/>
              <a:ext cx="3351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8" name="Picture 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663" y="3172"/>
              <a:ext cx="1440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9" name="Picture 1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40" y="3385"/>
              <a:ext cx="3790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711200" y="5734050"/>
            <a:ext cx="8181975" cy="836613"/>
            <a:chOff x="448" y="3538"/>
            <a:chExt cx="5154" cy="527"/>
          </a:xfrm>
        </p:grpSpPr>
        <p:pic>
          <p:nvPicPr>
            <p:cNvPr id="59398" name="Picture 11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2" y="3538"/>
              <a:ext cx="1285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399" name="Picture 12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777" y="3538"/>
              <a:ext cx="252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0" name="Picture 13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2025" y="3538"/>
              <a:ext cx="1982" cy="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1" name="Picture 14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017" y="3559"/>
              <a:ext cx="1569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2" name="Picture 15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462" y="3719"/>
              <a:ext cx="1750" cy="16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3" name="Picture 17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199" y="3705"/>
              <a:ext cx="3403" cy="1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59404" name="Picture 18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48" y="3865"/>
              <a:ext cx="1207" cy="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633</Words>
  <Application>Microsoft Office PowerPoint</Application>
  <PresentationFormat>Apresentação na tela (4:3)</PresentationFormat>
  <Paragraphs>50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Tema do Office</vt:lpstr>
      <vt:lpstr>ANÁLISE DA RESPOSTA TRANSITORIA PARA SISTEMAS DE SEGUNDA ORDEM</vt:lpstr>
      <vt:lpstr>Definições das Especificações da Resposta Transitória(1)</vt:lpstr>
      <vt:lpstr>Definições das Especificações da Resposta Transitória(2)</vt:lpstr>
      <vt:lpstr>Comentários Sobre a Resposta Transitória</vt:lpstr>
      <vt:lpstr>Cálculo do Tempo de Subida - tr(3) Nise</vt:lpstr>
      <vt:lpstr>Relacionamento entre os Parâmetros de Especificação da Resposta Transitória</vt:lpstr>
      <vt:lpstr>Resposta ao Degrau de Sistemas de Segunda Ordem Subamortecidos quando os pólos se movem com parte real constante</vt:lpstr>
      <vt:lpstr>Resposta ao Degrau de Sistemas de Segunda Ordem Subamortecidos quando os pólos se movem com parte imaginária constante</vt:lpstr>
      <vt:lpstr>Resposta ao Degrau de Sistemas de Segunda Ordem Subamortecidos quando os pólos se movem com fração de amortecimento constante</vt:lpstr>
      <vt:lpstr>Exemplo 4.6. (Norman Nise)</vt:lpstr>
      <vt:lpstr>Exemplo 4.7. (Norman Nise)</vt:lpstr>
      <vt:lpstr>Exemplo 4.7. (Norman Nise)</vt:lpstr>
      <vt:lpstr>Exemplo 5.1.(1)</vt:lpstr>
      <vt:lpstr>Exemplo 5.1.(2)</vt:lpstr>
      <vt:lpstr>Servossistema com Realimentação de Velocidade (1)</vt:lpstr>
      <vt:lpstr>Servossistema com Realimentação de Velocidade (2)</vt:lpstr>
      <vt:lpstr>Exemplo 5.2. (1)</vt:lpstr>
      <vt:lpstr>Exemplo 5.2. (2)</vt:lpstr>
      <vt:lpstr>Exemplo 5.2. (3)</vt:lpstr>
      <vt:lpstr>Resposta ao Impulso dos Sistemas de Segunda Ordem (1)</vt:lpstr>
      <vt:lpstr>Resposta ao Impulso dos Sistemas de Segunda Ordem (2)</vt:lpstr>
      <vt:lpstr>Resposta ao Impulso dos Sistemas de Segunda Ordem (3)</vt:lpstr>
      <vt:lpstr>Resposta ao Impulso dos Sistemas de Segunda Ordem (4)</vt:lpstr>
      <vt:lpstr>Resposta ao Impulso dos Sistemas de Segunda Ordem (5)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Usuario</dc:creator>
  <cp:lastModifiedBy>Usuario</cp:lastModifiedBy>
  <cp:revision>3</cp:revision>
  <dcterms:created xsi:type="dcterms:W3CDTF">2014-09-15T18:34:32Z</dcterms:created>
  <dcterms:modified xsi:type="dcterms:W3CDTF">2014-09-15T23:34:23Z</dcterms:modified>
</cp:coreProperties>
</file>