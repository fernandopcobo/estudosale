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02D2F-019C-4C5A-B86C-BA68C1F27693}" type="datetimeFigureOut">
              <a:rPr lang="pt-BR" smtClean="0"/>
              <a:pPr/>
              <a:t>08/09/2021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B6D79-6F4B-4D9B-888B-22B5D451825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image" Target="../media/image12.wmf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12" Type="http://schemas.openxmlformats.org/officeDocument/2006/relationships/image" Target="../media/image11.wmf"/><Relationship Id="rId17" Type="http://schemas.openxmlformats.org/officeDocument/2006/relationships/image" Target="../media/image16.wmf"/><Relationship Id="rId2" Type="http://schemas.openxmlformats.org/officeDocument/2006/relationships/image" Target="../media/image1.wmf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10.png"/><Relationship Id="rId5" Type="http://schemas.openxmlformats.org/officeDocument/2006/relationships/image" Target="../media/image4.wmf"/><Relationship Id="rId15" Type="http://schemas.openxmlformats.org/officeDocument/2006/relationships/image" Target="../media/image14.wmf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image" Target="../media/image8.png"/><Relationship Id="rId14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3" Type="http://schemas.openxmlformats.org/officeDocument/2006/relationships/image" Target="../media/image9.w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wmf"/><Relationship Id="rId5" Type="http://schemas.openxmlformats.org/officeDocument/2006/relationships/image" Target="../media/image11.wmf"/><Relationship Id="rId10" Type="http://schemas.openxmlformats.org/officeDocument/2006/relationships/image" Target="../media/image41.png"/><Relationship Id="rId4" Type="http://schemas.openxmlformats.org/officeDocument/2006/relationships/image" Target="../media/image10.png"/><Relationship Id="rId9" Type="http://schemas.openxmlformats.org/officeDocument/2006/relationships/image" Target="../media/image4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60.wmf"/><Relationship Id="rId18" Type="http://schemas.openxmlformats.org/officeDocument/2006/relationships/image" Target="../media/image6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17" Type="http://schemas.openxmlformats.org/officeDocument/2006/relationships/image" Target="../media/image64.png"/><Relationship Id="rId2" Type="http://schemas.openxmlformats.org/officeDocument/2006/relationships/image" Target="../media/image45.png"/><Relationship Id="rId16" Type="http://schemas.openxmlformats.org/officeDocument/2006/relationships/image" Target="../media/image63.wmf"/><Relationship Id="rId20" Type="http://schemas.openxmlformats.org/officeDocument/2006/relationships/image" Target="../media/image6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5" Type="http://schemas.openxmlformats.org/officeDocument/2006/relationships/image" Target="../media/image62.png"/><Relationship Id="rId10" Type="http://schemas.openxmlformats.org/officeDocument/2006/relationships/image" Target="../media/image57.wmf"/><Relationship Id="rId19" Type="http://schemas.openxmlformats.org/officeDocument/2006/relationships/image" Target="../media/image66.wmf"/><Relationship Id="rId4" Type="http://schemas.openxmlformats.org/officeDocument/2006/relationships/image" Target="../media/image51.png"/><Relationship Id="rId9" Type="http://schemas.openxmlformats.org/officeDocument/2006/relationships/image" Target="../media/image56.wmf"/><Relationship Id="rId14" Type="http://schemas.openxmlformats.org/officeDocument/2006/relationships/image" Target="../media/image6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w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ANÁLISE DA RESPOSTA TRANSITORIA PARA SISTEMAS DE SEGUNDA ORDEM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85984" y="6072206"/>
            <a:ext cx="4843474" cy="495288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Prof. Dr. </a:t>
            </a:r>
            <a:r>
              <a:rPr lang="en-US" dirty="0" err="1" smtClean="0"/>
              <a:t>Renato</a:t>
            </a:r>
            <a:r>
              <a:rPr lang="en-US" dirty="0" smtClean="0"/>
              <a:t> de </a:t>
            </a:r>
            <a:r>
              <a:rPr lang="en-US" dirty="0" err="1" smtClean="0"/>
              <a:t>Aguiar</a:t>
            </a:r>
            <a:r>
              <a:rPr lang="en-US" dirty="0" smtClean="0"/>
              <a:t> Teixeira Mendes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333375"/>
            <a:ext cx="8015287" cy="914400"/>
          </a:xfrm>
        </p:spPr>
        <p:txBody>
          <a:bodyPr>
            <a:normAutofit fontScale="90000"/>
          </a:bodyPr>
          <a:lstStyle/>
          <a:p>
            <a:r>
              <a:rPr lang="pt-BR" sz="3800" smtClean="0"/>
              <a:t>Comportamento Dinâmico do Sistema de Segunda Ordem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68313" y="1773238"/>
            <a:ext cx="5838825" cy="331787"/>
            <a:chOff x="295" y="1117"/>
            <a:chExt cx="3678" cy="209"/>
          </a:xfrm>
        </p:grpSpPr>
        <p:pic>
          <p:nvPicPr>
            <p:cNvPr id="13335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95" y="1117"/>
              <a:ext cx="2938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36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05" y="1120"/>
              <a:ext cx="768" cy="20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468313" y="2492375"/>
            <a:ext cx="8313737" cy="998538"/>
            <a:chOff x="295" y="1570"/>
            <a:chExt cx="5237" cy="629"/>
          </a:xfrm>
        </p:grpSpPr>
        <p:pic>
          <p:nvPicPr>
            <p:cNvPr id="13330" name="Picture 1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5" y="1570"/>
              <a:ext cx="2473" cy="22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31" name="Picture 1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775" y="1570"/>
              <a:ext cx="2757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32" name="Picture 1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02" y="1797"/>
              <a:ext cx="2628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33" name="Picture 18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904" y="1790"/>
              <a:ext cx="2473" cy="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34" name="Picture 19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05" y="1986"/>
              <a:ext cx="4074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39750" y="4438650"/>
            <a:ext cx="6911975" cy="430213"/>
            <a:chOff x="340" y="2796"/>
            <a:chExt cx="4354" cy="271"/>
          </a:xfrm>
        </p:grpSpPr>
        <p:pic>
          <p:nvPicPr>
            <p:cNvPr id="13326" name="Picture 2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40" y="2799"/>
              <a:ext cx="2732" cy="2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7" name="Picture 22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103" y="2796"/>
              <a:ext cx="898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8" name="Picture 23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984" y="2839"/>
              <a:ext cx="252" cy="1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9" name="Picture 24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4235" y="2809"/>
              <a:ext cx="459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3708400" y="3789363"/>
            <a:ext cx="4784725" cy="317500"/>
            <a:chOff x="340" y="2387"/>
            <a:chExt cx="3014" cy="200"/>
          </a:xfrm>
        </p:grpSpPr>
        <p:pic>
          <p:nvPicPr>
            <p:cNvPr id="13324" name="Picture 25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1010" y="2420"/>
              <a:ext cx="2344" cy="14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5" name="Picture 26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340" y="2387"/>
              <a:ext cx="665" cy="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501650" y="5300663"/>
            <a:ext cx="8369300" cy="349250"/>
            <a:chOff x="316" y="3339"/>
            <a:chExt cx="5272" cy="220"/>
          </a:xfrm>
        </p:grpSpPr>
        <p:pic>
          <p:nvPicPr>
            <p:cNvPr id="13321" name="Picture 27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316" y="3339"/>
              <a:ext cx="2292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2" name="Picture 32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2608" y="3340"/>
              <a:ext cx="898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3323" name="Picture 33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3477" y="3346"/>
              <a:ext cx="2111" cy="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sp>
        <p:nvSpPr>
          <p:cNvPr id="13320" name="Text Box 35"/>
          <p:cNvSpPr txBox="1">
            <a:spLocks noChangeArrowheads="1"/>
          </p:cNvSpPr>
          <p:nvPr/>
        </p:nvSpPr>
        <p:spPr bwMode="auto">
          <a:xfrm>
            <a:off x="428625" y="3756025"/>
            <a:ext cx="35290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="0">
                <a:latin typeface="Century" pitchFamily="18" charset="0"/>
              </a:rPr>
              <a:t>Sistema Sem Amortecimento: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675" y="0"/>
            <a:ext cx="7902575" cy="6808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15363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0" y="803275"/>
            <a:ext cx="3843338" cy="388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1484313"/>
            <a:ext cx="4459287" cy="809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5365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4163" y="1628775"/>
            <a:ext cx="2654300" cy="4302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46127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6100" y="2320925"/>
            <a:ext cx="7410450" cy="460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11188" y="2924175"/>
            <a:ext cx="7048500" cy="419100"/>
            <a:chOff x="385" y="2251"/>
            <a:chExt cx="4440" cy="264"/>
          </a:xfrm>
        </p:grpSpPr>
        <p:pic>
          <p:nvPicPr>
            <p:cNvPr id="15375" name="Picture 1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2251"/>
              <a:ext cx="846" cy="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5376" name="Picture 1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216" y="2341"/>
              <a:ext cx="3609" cy="1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346130" name="Picture 1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11188" y="3357563"/>
            <a:ext cx="2982912" cy="727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60388" y="4114800"/>
            <a:ext cx="7972425" cy="646113"/>
            <a:chOff x="353" y="2592"/>
            <a:chExt cx="5022" cy="407"/>
          </a:xfrm>
        </p:grpSpPr>
        <p:pic>
          <p:nvPicPr>
            <p:cNvPr id="15371" name="Picture 19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53" y="2592"/>
              <a:ext cx="3196" cy="2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5372" name="Picture 21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574" y="2620"/>
              <a:ext cx="1801" cy="20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5373" name="Picture 22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53" y="2773"/>
              <a:ext cx="1440" cy="22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5374" name="Picture 2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1787" y="2801"/>
              <a:ext cx="1233" cy="1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346136" name="Picture 2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11188" y="4724400"/>
            <a:ext cx="5483225" cy="17097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16387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628775"/>
            <a:ext cx="3516313" cy="388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638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2060575"/>
            <a:ext cx="3744913" cy="7445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6389" name="Picture 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7900" y="2089150"/>
            <a:ext cx="4130675" cy="79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522288" y="3060700"/>
            <a:ext cx="7493000" cy="2692400"/>
            <a:chOff x="329" y="1928"/>
            <a:chExt cx="4720" cy="1696"/>
          </a:xfrm>
        </p:grpSpPr>
        <p:pic>
          <p:nvPicPr>
            <p:cNvPr id="16392" name="Picture 2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69" y="1940"/>
              <a:ext cx="1027" cy="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329" y="1928"/>
              <a:ext cx="4720" cy="1696"/>
              <a:chOff x="329" y="1928"/>
              <a:chExt cx="4720" cy="1696"/>
            </a:xfrm>
          </p:grpSpPr>
          <p:pic>
            <p:nvPicPr>
              <p:cNvPr id="16394" name="Picture 19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340" y="1928"/>
                <a:ext cx="3635" cy="2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pic>
            <p:nvPicPr>
              <p:cNvPr id="16395" name="Picture 23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329" y="2205"/>
                <a:ext cx="4720" cy="141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</p:grpSp>
      </p:grpSp>
      <p:pic>
        <p:nvPicPr>
          <p:cNvPr id="16391" name="Picture 2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968750" y="803275"/>
            <a:ext cx="3843338" cy="388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18435" name="Picture 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1638" y="836613"/>
            <a:ext cx="4294187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68313" y="1557338"/>
            <a:ext cx="2525712" cy="430212"/>
            <a:chOff x="476" y="1026"/>
            <a:chExt cx="1591" cy="271"/>
          </a:xfrm>
        </p:grpSpPr>
        <p:pic>
          <p:nvPicPr>
            <p:cNvPr id="18445" name="Picture 2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6" y="1026"/>
              <a:ext cx="898" cy="2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8446" name="Picture 2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357" y="1069"/>
              <a:ext cx="252" cy="1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18447" name="Picture 2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608" y="1039"/>
              <a:ext cx="459" cy="21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pic>
        <p:nvPicPr>
          <p:cNvPr id="18437" name="Picture 3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8313" y="2133600"/>
            <a:ext cx="5278437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38" name="Picture 3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9750" y="2636838"/>
            <a:ext cx="1138238" cy="450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39" name="Picture 3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663700" y="2697163"/>
            <a:ext cx="1096963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40" name="Picture 3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744788" y="2674938"/>
            <a:ext cx="72866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41" name="Picture 35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492500" y="2514600"/>
            <a:ext cx="2081213" cy="798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42" name="Picture 36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68313" y="3429000"/>
            <a:ext cx="5195887" cy="5635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43" name="Picture 37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632450" y="3567113"/>
            <a:ext cx="31051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44" name="Picture 3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11188" y="4005263"/>
            <a:ext cx="4540250" cy="460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19459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6463" y="836613"/>
            <a:ext cx="347503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460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628775"/>
            <a:ext cx="6180138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461" name="Picture 1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213" y="2205038"/>
            <a:ext cx="6262687" cy="911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462" name="Picture 1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9750" y="3284538"/>
            <a:ext cx="5114925" cy="4302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463" name="Picture 2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4213" y="3789363"/>
            <a:ext cx="7205662" cy="2703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6463" y="836613"/>
            <a:ext cx="347503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4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628775"/>
            <a:ext cx="8231188" cy="2968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863" y="1966913"/>
            <a:ext cx="285908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6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19475" y="2000250"/>
            <a:ext cx="5565775" cy="306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7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1188" y="2398713"/>
            <a:ext cx="5853112" cy="2968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8" name="Picture 1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516688" y="2387600"/>
            <a:ext cx="2081212" cy="317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89" name="Picture 1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9288" y="2708275"/>
            <a:ext cx="8026400" cy="347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0" name="Picture 1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77863" y="3079750"/>
            <a:ext cx="1384300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1" name="Picture 1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052638" y="3090863"/>
            <a:ext cx="5975350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2" name="Picture 1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61988" y="3489325"/>
            <a:ext cx="277812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3" name="Picture 1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84213" y="4292600"/>
            <a:ext cx="2778125" cy="347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4" name="Picture 2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470275" y="4370388"/>
            <a:ext cx="5278438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5" name="Picture 2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84213" y="4652963"/>
            <a:ext cx="5156200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6" name="Picture 23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5818188" y="4652963"/>
            <a:ext cx="276225" cy="2460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7" name="Picture 25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6084888" y="4657725"/>
            <a:ext cx="1957387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8" name="Picture 26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84213" y="4930775"/>
            <a:ext cx="4703762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499" name="Picture 27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684213" y="5589588"/>
            <a:ext cx="4786312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500" name="Picture 29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5435600" y="5622925"/>
            <a:ext cx="2613025" cy="276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501" name="Picture 30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677863" y="5876925"/>
            <a:ext cx="7656512" cy="327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6463" y="836613"/>
            <a:ext cx="347503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08" name="Picture 2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213" y="1557338"/>
            <a:ext cx="4500562" cy="869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09" name="Picture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4213" y="2636838"/>
            <a:ext cx="4664075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10" name="Picture 2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19713" y="2598738"/>
            <a:ext cx="1055687" cy="2873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11" name="Picture 2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4213" y="3213100"/>
            <a:ext cx="3762375" cy="1014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12" name="Picture 2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5650" y="4437063"/>
            <a:ext cx="4498975" cy="481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pt-BR" sz="3800" smtClean="0"/>
              <a:t>Sistemas de Segunda Ordem</a:t>
            </a:r>
            <a:br>
              <a:rPr lang="pt-BR" sz="3800" smtClean="0"/>
            </a:br>
            <a:r>
              <a:rPr lang="pt-BR" sz="3000" smtClean="0">
                <a:solidFill>
                  <a:srgbClr val="990000"/>
                </a:solidFill>
              </a:rPr>
              <a:t>Resposta ao Degrau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0" y="1579563"/>
            <a:ext cx="5975350" cy="5048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57200" y="474345"/>
            <a:ext cx="8229600" cy="5866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smtClean="0"/>
              <a:t>Especificações </a:t>
            </a:r>
            <a:r>
              <a:rPr lang="pt-BR" dirty="0"/>
              <a:t>da Resposta </a:t>
            </a:r>
            <a:r>
              <a:rPr lang="pt-BR" dirty="0" smtClean="0"/>
              <a:t>Transitória </a:t>
            </a:r>
            <a:r>
              <a:rPr lang="pt-BR" dirty="0"/>
              <a:t>para Sistemas </a:t>
            </a:r>
            <a:r>
              <a:rPr lang="pt-BR" dirty="0" err="1"/>
              <a:t>Subamortecidos</a:t>
            </a:r>
            <a:r>
              <a:rPr lang="pt-BR" dirty="0"/>
              <a:t>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As </a:t>
            </a:r>
            <a:r>
              <a:rPr lang="pt-BR" dirty="0" smtClean="0"/>
              <a:t>características </a:t>
            </a:r>
            <a:r>
              <a:rPr lang="pt-BR" dirty="0"/>
              <a:t>de um sistema de controle </a:t>
            </a:r>
            <a:r>
              <a:rPr lang="pt-BR" dirty="0" smtClean="0"/>
              <a:t>s</a:t>
            </a:r>
            <a:r>
              <a:rPr lang="pt-BR" dirty="0"/>
              <a:t>ã</a:t>
            </a:r>
            <a:r>
              <a:rPr lang="pt-BR" dirty="0" smtClean="0"/>
              <a:t>o </a:t>
            </a:r>
            <a:r>
              <a:rPr lang="pt-BR" dirty="0"/>
              <a:t>geralmente especificadas em termos da resposta </a:t>
            </a:r>
            <a:r>
              <a:rPr lang="pt-BR" dirty="0" smtClean="0"/>
              <a:t>transitória </a:t>
            </a:r>
            <a:r>
              <a:rPr lang="pt-BR" dirty="0"/>
              <a:t>a uma entrada degrau.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Para sistemas LIT, quando a resposta ao degrau é</a:t>
            </a:r>
            <a:r>
              <a:rPr lang="pt-BR" dirty="0" smtClean="0"/>
              <a:t> </a:t>
            </a:r>
            <a:r>
              <a:rPr lang="pt-BR" dirty="0"/>
              <a:t>conhecida, pode-se calcular a resposta a qualquer tipo de entrada.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Costuma-se utilizar </a:t>
            </a:r>
            <a:r>
              <a:rPr lang="pt-BR" dirty="0" smtClean="0"/>
              <a:t>condição </a:t>
            </a:r>
            <a:r>
              <a:rPr lang="pt-BR" dirty="0"/>
              <a:t>inicial de sistema em repouso. </a:t>
            </a:r>
            <a:r>
              <a:rPr lang="pt-BR" dirty="0" smtClean="0"/>
              <a:t>Especificações </a:t>
            </a:r>
            <a:r>
              <a:rPr lang="pt-BR" dirty="0"/>
              <a:t>mais comuns: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Tempo de atraso (</a:t>
            </a:r>
            <a:r>
              <a:rPr lang="pt-BR" dirty="0" err="1"/>
              <a:t>td</a:t>
            </a:r>
            <a:r>
              <a:rPr lang="pt-BR" dirty="0"/>
              <a:t> ): tempo </a:t>
            </a:r>
            <a:r>
              <a:rPr lang="pt-BR" dirty="0" smtClean="0"/>
              <a:t>necessário </a:t>
            </a:r>
            <a:r>
              <a:rPr lang="pt-BR" dirty="0"/>
              <a:t>para que a resposta alcance metade do seu valor final pela primeira vez</a:t>
            </a:r>
            <a:r>
              <a:rPr lang="pt-B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pt-BR" dirty="0" smtClean="0"/>
              <a:t> </a:t>
            </a:r>
            <a:r>
              <a:rPr lang="pt-BR" dirty="0"/>
              <a:t>• Tempo de subida (</a:t>
            </a:r>
            <a:r>
              <a:rPr lang="pt-BR" dirty="0" err="1"/>
              <a:t>tr</a:t>
            </a:r>
            <a:r>
              <a:rPr lang="pt-BR" dirty="0"/>
              <a:t>): tempo requerido para que a resposta passe de 10% a 90%, ou de 5% a 95%, ou de 0% a 100% do valor final. Para sistemas de 2 a ordem </a:t>
            </a:r>
            <a:r>
              <a:rPr lang="pt-BR" dirty="0" err="1"/>
              <a:t>subamortecido</a:t>
            </a:r>
            <a:r>
              <a:rPr lang="pt-BR" dirty="0"/>
              <a:t>, utiliza-se 0% a 100% do valor final. Para sistemas superamortecidos, geralmente considera-se de 10% a 90%.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Tempo de pico (</a:t>
            </a:r>
            <a:r>
              <a:rPr lang="pt-BR" dirty="0" err="1"/>
              <a:t>tp</a:t>
            </a:r>
            <a:r>
              <a:rPr lang="pt-BR" dirty="0"/>
              <a:t>): tempo para que a resposta atinja o primeiro pico de </a:t>
            </a:r>
            <a:r>
              <a:rPr lang="pt-BR" dirty="0" err="1"/>
              <a:t>sobresinal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34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611560" y="1859340"/>
            <a:ext cx="820891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/>
              <a:t>Máximo </a:t>
            </a:r>
            <a:r>
              <a:rPr lang="pt-BR" dirty="0" err="1"/>
              <a:t>overshoot</a:t>
            </a:r>
            <a:r>
              <a:rPr lang="pt-BR" dirty="0"/>
              <a:t> (MO): valor </a:t>
            </a:r>
            <a:r>
              <a:rPr lang="pt-BR" dirty="0" smtClean="0"/>
              <a:t>máximo </a:t>
            </a:r>
            <a:r>
              <a:rPr lang="pt-BR" dirty="0"/>
              <a:t>de pico da curva de resposta, medido a partir da unidade. Se o valor da resposta em regime diferir da unidade, utiliza-se a porcentagem </a:t>
            </a:r>
            <a:r>
              <a:rPr lang="pt-BR" dirty="0" smtClean="0"/>
              <a:t>máxima </a:t>
            </a:r>
            <a:r>
              <a:rPr lang="pt-BR" dirty="0"/>
              <a:t>de </a:t>
            </a:r>
            <a:r>
              <a:rPr lang="pt-BR" dirty="0" err="1"/>
              <a:t>sobresinal</a:t>
            </a:r>
            <a:r>
              <a:rPr lang="pt-BR" dirty="0"/>
              <a:t> (ou ultrapassagem percentual, U.P.):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dirty="0" smtClean="0"/>
              <a:t>U.P</a:t>
            </a:r>
            <a:r>
              <a:rPr lang="pt-BR" dirty="0"/>
              <a:t>. = y (</a:t>
            </a:r>
            <a:r>
              <a:rPr lang="pt-BR" dirty="0" err="1"/>
              <a:t>tp</a:t>
            </a:r>
            <a:r>
              <a:rPr lang="pt-BR" dirty="0"/>
              <a:t>) − y (∞) y (∞) × 100% </a:t>
            </a:r>
            <a:endParaRPr lang="pt-BR" dirty="0" smtClean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dirty="0" smtClean="0"/>
              <a:t>• </a:t>
            </a:r>
            <a:r>
              <a:rPr lang="pt-BR" dirty="0"/>
              <a:t>Tempo de </a:t>
            </a:r>
            <a:r>
              <a:rPr lang="pt-BR" dirty="0" smtClean="0"/>
              <a:t>acomodação </a:t>
            </a:r>
            <a:r>
              <a:rPr lang="pt-BR" dirty="0"/>
              <a:t>ou assentamento) (</a:t>
            </a:r>
            <a:r>
              <a:rPr lang="pt-BR" dirty="0" err="1"/>
              <a:t>ts</a:t>
            </a:r>
            <a:r>
              <a:rPr lang="pt-BR" dirty="0"/>
              <a:t> ): tempo </a:t>
            </a:r>
            <a:r>
              <a:rPr lang="pt-BR" dirty="0" smtClean="0"/>
              <a:t>necessário </a:t>
            </a:r>
            <a:r>
              <a:rPr lang="pt-BR" dirty="0"/>
              <a:t>para que a resposta </a:t>
            </a:r>
            <a:r>
              <a:rPr lang="pt-BR" dirty="0" smtClean="0"/>
              <a:t>permaneça </a:t>
            </a:r>
            <a:r>
              <a:rPr lang="pt-BR" dirty="0"/>
              <a:t>com valores no interior de uma certa faixa ±∆ (usualmente ±2% ou ±5%) em torno do valor final.</a:t>
            </a:r>
          </a:p>
        </p:txBody>
      </p:sp>
    </p:spTree>
    <p:extLst>
      <p:ext uri="{BB962C8B-B14F-4D97-AF65-F5344CB8AC3E}">
        <p14:creationId xmlns:p14="http://schemas.microsoft.com/office/powerpoint/2010/main" val="28715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052736"/>
            <a:ext cx="7098290" cy="42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88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338</Words>
  <Application>Microsoft Office PowerPoint</Application>
  <PresentationFormat>Apresentação na tela (4:3)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</vt:lpstr>
      <vt:lpstr>Tema do Office</vt:lpstr>
      <vt:lpstr>ANÁLISE DA RESPOSTA TRANSITORIA PARA SISTEMAS DE SEGUNDA ORDEM</vt:lpstr>
      <vt:lpstr>Comportamento Dinâmico do Sistema de Segunda Ordem</vt:lpstr>
      <vt:lpstr>Apresentação do PowerPoint</vt:lpstr>
      <vt:lpstr>Sistemas de Segunda Ordem Resposta ao Degrau</vt:lpstr>
      <vt:lpstr>Sistemas de Segunda Ordem Resposta ao Degrau</vt:lpstr>
      <vt:lpstr>Sistemas de Segunda Ordem Resposta ao Degrau</vt:lpstr>
      <vt:lpstr>Sistemas de Segunda Ordem Resposta ao Degrau</vt:lpstr>
      <vt:lpstr>Sistemas de Segunda Ordem Resposta ao Degrau</vt:lpstr>
      <vt:lpstr>Sistemas de Segunda Ordem Resposta ao Degrau</vt:lpstr>
      <vt:lpstr>Sistemas de Segunda Ordem Resposta ao Degrau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Usuario</dc:creator>
  <cp:lastModifiedBy>renato</cp:lastModifiedBy>
  <cp:revision>8</cp:revision>
  <dcterms:created xsi:type="dcterms:W3CDTF">2014-09-08T18:45:05Z</dcterms:created>
  <dcterms:modified xsi:type="dcterms:W3CDTF">2021-09-09T00:41:02Z</dcterms:modified>
</cp:coreProperties>
</file>